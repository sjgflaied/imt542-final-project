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C5D9C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91440"/>
            <a:ext cx="2560320" cy="2560320"/>
          </a:xfrm>
          <a:prstGeom prst="ellipse">
            <a:avLst/>
          </a:prstGeom>
          <a:solidFill>
            <a:srgbClr val="B0C0D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 Crisis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D9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Early-Warning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CDC PLACES Mental Health Data Portable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 542 — Portable Information Structures  |  Group 5  |  Final Project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2468880" cy="1261872"/>
          </a:xfrm>
          <a:prstGeom prst="rect">
            <a:avLst/>
          </a:prstGeom>
          <a:solidFill>
            <a:srgbClr val="7D9B8A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32,520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520440"/>
            <a:ext cx="2468880" cy="1261872"/>
          </a:xfrm>
          <a:prstGeom prst="rect">
            <a:avLst/>
          </a:prstGeom>
          <a:solidFill>
            <a:srgbClr val="7D9B8A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Measures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520440"/>
            <a:ext cx="2468880" cy="1261872"/>
          </a:xfrm>
          <a:prstGeom prst="rect">
            <a:avLst/>
          </a:prstGeom>
          <a:solidFill>
            <a:srgbClr val="7D9B8A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584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github.com/sjgflaied/IMT542-Final-Project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37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4CE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1115568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64008" cy="111556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211 crisis coordinator has no way to know if next week's calls will exceed capacity. CDC PLACES data that could help is a flat API — one row per ZIP per health measure — requiring complex transformation before any operational question can be answered. The data exists. The structure does not.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48256"/>
            <a:ext cx="2697480" cy="2651760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48256"/>
            <a:ext cx="2697480" cy="457200"/>
          </a:xfrm>
          <a:prstGeom prst="rect">
            <a:avLst/>
          </a:prstGeom>
          <a:solidFill>
            <a:srgbClr val="C4908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2075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2596896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forecast which ZIP codes will surge before the crisis line is overwhelmed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2048256"/>
            <a:ext cx="2697480" cy="2651760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2048256"/>
            <a:ext cx="2697480" cy="457200"/>
          </a:xfrm>
          <a:prstGeom prst="rect">
            <a:avLst/>
          </a:prstGeom>
          <a:solidFill>
            <a:srgbClr val="C4908A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2075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46704" y="2596896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Measure-per-row format: 4 separate API calls needed to get one ZIP's full picture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2048256"/>
            <a:ext cx="2697480" cy="2651760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048256"/>
            <a:ext cx="2697480" cy="457200"/>
          </a:xfrm>
          <a:prstGeom prst="rect">
            <a:avLst/>
          </a:prstGeom>
          <a:solidFill>
            <a:srgbClr val="C4908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2075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2596896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CDC data cannot feed dashboards, alerts, or staffing tools without major transformation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097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MHCEWS turns this fragmented data into a live, ZIP-code-level predictive API.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 — CDC PLACES API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37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9CE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14800" cy="4133088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PLACES ZCTA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Release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591056"/>
            <a:ext cx="3877056" cy="438912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550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26464" y="1655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data.cdc.gov/resource/qnzd-25i4.json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103120"/>
            <a:ext cx="3877056" cy="438912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167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26464" y="2167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 — fully public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615184"/>
            <a:ext cx="3877056" cy="438912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679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26464" y="2679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32,520 ZCTAs — all 50 states + DC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127248"/>
            <a:ext cx="3877056" cy="438912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191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26464" y="3191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via Socrata SODA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3639312"/>
            <a:ext cx="3877056" cy="438912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26464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Government work (public domain)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4151376"/>
            <a:ext cx="3877056" cy="438912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215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26464" y="4215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(typically October)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749808"/>
            <a:ext cx="4114800" cy="4133088"/>
          </a:xfrm>
          <a:prstGeom prst="rect">
            <a:avLst/>
          </a:prstGeom>
          <a:solidFill>
            <a:srgbClr val="5C6B7A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877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Mental Health Measures Used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73168" y="1353312"/>
            <a:ext cx="3886200" cy="694944"/>
          </a:xfrm>
          <a:prstGeom prst="rect">
            <a:avLst/>
          </a:prstGeom>
          <a:solidFill>
            <a:srgbClr val="4A5E70"/>
          </a:solidFill>
          <a:ln/>
        </p:spPr>
      </p:sp>
      <p:sp>
        <p:nvSpPr>
          <p:cNvPr id="29" name="Shape 27"/>
          <p:cNvSpPr/>
          <p:nvPr/>
        </p:nvSpPr>
        <p:spPr>
          <a:xfrm>
            <a:off x="4773168" y="1353312"/>
            <a:ext cx="64008" cy="694944"/>
          </a:xfrm>
          <a:prstGeom prst="rect">
            <a:avLst/>
          </a:prstGeom>
          <a:solidFill>
            <a:srgbClr val="9BB5A5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1408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MHLTH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Mental Distress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73168" y="2176272"/>
            <a:ext cx="3886200" cy="694944"/>
          </a:xfrm>
          <a:prstGeom prst="rect">
            <a:avLst/>
          </a:prstGeom>
          <a:solidFill>
            <a:srgbClr val="4A5E70"/>
          </a:solidFill>
          <a:ln/>
        </p:spPr>
      </p:sp>
      <p:sp>
        <p:nvSpPr>
          <p:cNvPr id="33" name="Shape 31"/>
          <p:cNvSpPr/>
          <p:nvPr/>
        </p:nvSpPr>
        <p:spPr>
          <a:xfrm>
            <a:off x="4773168" y="2176272"/>
            <a:ext cx="64008" cy="694944"/>
          </a:xfrm>
          <a:prstGeom prst="rect">
            <a:avLst/>
          </a:prstGeom>
          <a:solidFill>
            <a:srgbClr val="9BB5A5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22311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DEPRESSION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Prevalence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73168" y="2999232"/>
            <a:ext cx="3886200" cy="694944"/>
          </a:xfrm>
          <a:prstGeom prst="rect">
            <a:avLst/>
          </a:prstGeom>
          <a:solidFill>
            <a:srgbClr val="4A5E70"/>
          </a:solidFill>
          <a:ln/>
        </p:spPr>
      </p:sp>
      <p:sp>
        <p:nvSpPr>
          <p:cNvPr id="37" name="Shape 35"/>
          <p:cNvSpPr/>
          <p:nvPr/>
        </p:nvSpPr>
        <p:spPr>
          <a:xfrm>
            <a:off x="4773168" y="2999232"/>
            <a:ext cx="64008" cy="694944"/>
          </a:xfrm>
          <a:prstGeom prst="rect">
            <a:avLst/>
          </a:prstGeom>
          <a:solidFill>
            <a:srgbClr val="9BB5A5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054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EMOTIONSPT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9472" y="33284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Emotional Support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73168" y="3822192"/>
            <a:ext cx="3886200" cy="694944"/>
          </a:xfrm>
          <a:prstGeom prst="rect">
            <a:avLst/>
          </a:prstGeom>
          <a:solidFill>
            <a:srgbClr val="4A5E70"/>
          </a:solidFill>
          <a:ln/>
        </p:spPr>
      </p:sp>
      <p:sp>
        <p:nvSpPr>
          <p:cNvPr id="41" name="Shape 39"/>
          <p:cNvSpPr/>
          <p:nvPr/>
        </p:nvSpPr>
        <p:spPr>
          <a:xfrm>
            <a:off x="4773168" y="3822192"/>
            <a:ext cx="64008" cy="694944"/>
          </a:xfrm>
          <a:prstGeom prst="rect">
            <a:avLst/>
          </a:prstGeom>
          <a:solidFill>
            <a:srgbClr val="9BB5A5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3877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LONELINESS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9472" y="4151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Loneliness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vs. NEW INFORMATION 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95360" y="137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4CE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3931920" cy="4224528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3931920" cy="438912"/>
          </a:xfrm>
          <a:prstGeom prst="rect">
            <a:avLst/>
          </a:prstGeom>
          <a:solidFill>
            <a:srgbClr val="C490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7680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PLACES Raw API  (Original)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261872"/>
            <a:ext cx="3712464" cy="402336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325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325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measure per ZIP — must pivot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737360"/>
            <a:ext cx="3712464" cy="402336"/>
          </a:xfrm>
          <a:prstGeom prst="rect">
            <a:avLst/>
          </a:prstGeom>
          <a:solidFill>
            <a:srgbClr val="EAE6E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8013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8013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data_value as untyped string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212848"/>
            <a:ext cx="3712464" cy="402336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27685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2768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ZCTA only — no FIPS, no lat/lon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688336"/>
            <a:ext cx="3712464" cy="402336"/>
          </a:xfrm>
          <a:prstGeom prst="rect">
            <a:avLst/>
          </a:prstGeom>
          <a:solidFill>
            <a:srgbClr val="EAE6E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7523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2752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pivot required per query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163824"/>
            <a:ext cx="3712464" cy="402336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227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227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no risk score, no care gap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639312"/>
            <a:ext cx="3712464" cy="402336"/>
          </a:xfrm>
          <a:prstGeom prst="rect">
            <a:avLst/>
          </a:prstGeom>
          <a:solidFill>
            <a:srgbClr val="EAE6E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7033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703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measureid only — no model version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4114800"/>
            <a:ext cx="3712464" cy="402336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4178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4178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no composite signal per ZIP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D9B8A"/>
                </a:solidFill>
              </a:rPr>
              <a:t>→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4937760" y="731520"/>
            <a:ext cx="3931920" cy="4224528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731520"/>
            <a:ext cx="3931920" cy="438912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7680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MHCEWS ZIP Record  (New)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47488" y="1261872"/>
            <a:ext cx="3712464" cy="402336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1325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ZIP-per-record typed JSON, 4 schema layers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47488" y="1737360"/>
            <a:ext cx="3712464" cy="402336"/>
          </a:xfrm>
          <a:prstGeom prst="rect">
            <a:avLst/>
          </a:prstGeom>
          <a:solidFill>
            <a:srgbClr val="E4EDE8"/>
          </a:solidFill>
          <a:ln/>
        </p:spPr>
      </p:sp>
      <p:sp>
        <p:nvSpPr>
          <p:cNvPr id="37" name="Text 35"/>
          <p:cNvSpPr/>
          <p:nvPr/>
        </p:nvSpPr>
        <p:spPr>
          <a:xfrm>
            <a:off x="5138928" y="18013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1801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frequent_mental_distress_pct: 24.8 (float)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47488" y="2212848"/>
            <a:ext cx="3712464" cy="402336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40" name="Text 38"/>
          <p:cNvSpPr/>
          <p:nvPr/>
        </p:nvSpPr>
        <p:spPr>
          <a:xfrm>
            <a:off x="5138928" y="227685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2276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ZCTA + state_fips + county_fips + lat/lon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47488" y="2688336"/>
            <a:ext cx="3712464" cy="402336"/>
          </a:xfrm>
          <a:prstGeom prst="rect">
            <a:avLst/>
          </a:prstGeom>
          <a:solidFill>
            <a:srgbClr val="E4EDE8"/>
          </a:solidFill>
          <a:ln/>
        </p:spPr>
      </p:sp>
      <p:sp>
        <p:nvSpPr>
          <p:cNvPr id="43" name="Text 41"/>
          <p:cNvSpPr/>
          <p:nvPr/>
        </p:nvSpPr>
        <p:spPr>
          <a:xfrm>
            <a:off x="5138928" y="27523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2752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queryable by ZIP or risk tier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47488" y="3163824"/>
            <a:ext cx="3712464" cy="402336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46" name="Text 44"/>
          <p:cNvSpPr/>
          <p:nvPr/>
        </p:nvSpPr>
        <p:spPr>
          <a:xfrm>
            <a:off x="5138928" y="3227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26480" y="3227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care_gap, risk_score, risk_tier, surge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47488" y="3639312"/>
            <a:ext cx="3712464" cy="402336"/>
          </a:xfrm>
          <a:prstGeom prst="rect">
            <a:avLst/>
          </a:prstGeom>
          <a:solidFill>
            <a:srgbClr val="E4EDE8"/>
          </a:solidFill>
          <a:ln/>
        </p:spPr>
      </p:sp>
      <p:sp>
        <p:nvSpPr>
          <p:cNvPr id="49" name="Text 47"/>
          <p:cNvSpPr/>
          <p:nvPr/>
        </p:nvSpPr>
        <p:spPr>
          <a:xfrm>
            <a:off x="5138928" y="37033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2648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data_source + model_version on every record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47488" y="4114800"/>
            <a:ext cx="3712464" cy="402336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52" name="Text 50"/>
          <p:cNvSpPr/>
          <p:nvPr/>
        </p:nvSpPr>
        <p:spPr>
          <a:xfrm>
            <a:off x="5138928" y="4178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26480" y="4178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/predict/surge endpoint — ranked list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COMPLIANCE &amp; PORTABILITY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201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090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3977640"/>
          </a:xfrm>
          <a:prstGeom prst="rect">
            <a:avLst/>
          </a:prstGeom>
          <a:solidFill>
            <a:srgbClr val="EBF2EE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54864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87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D9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02336" y="18470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212848"/>
            <a:ext cx="17922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uniquely identified by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zip_code + week_start_date (ISO 8601).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schema: Identity / Signal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/ Action.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2011680" cy="397764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68680"/>
            <a:ext cx="2011680" cy="54864"/>
          </a:xfrm>
          <a:prstGeom prst="rect">
            <a:avLst/>
          </a:prstGeom>
          <a:solidFill>
            <a:srgbClr val="8499B0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987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49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578608" y="18470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212848"/>
            <a:ext cx="17922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over open HTTP.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for aggregate risk scores.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planned for restricted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feeds.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868680"/>
            <a:ext cx="2011680" cy="3977640"/>
          </a:xfrm>
          <a:prstGeom prst="rect">
            <a:avLst/>
          </a:prstGeom>
          <a:solidFill>
            <a:srgbClr val="F2EEF2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868680"/>
            <a:ext cx="2011680" cy="54864"/>
          </a:xfrm>
          <a:prstGeom prst="rect">
            <a:avLst/>
          </a:prstGeom>
          <a:solidFill>
            <a:srgbClr val="A89BA8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987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89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754880" y="18470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212848"/>
            <a:ext cx="17922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JSON-LD field names.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dates. Census ZCTA / FIPS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matching CDC PLACES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Bureau standards.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03136" y="868680"/>
            <a:ext cx="2011680" cy="397764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868680"/>
            <a:ext cx="2011680" cy="54864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9875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4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931152" y="18470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31152" y="2212848"/>
            <a:ext cx="17922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data_source + api_endpoint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model_version on every record.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 for all derived outputs.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provenance block.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097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record → JSON for APIs  |  CSV for case managers  |  GeoJSON for maps  — no conversion needed  (OECD 2021)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D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AREA: PREDICT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37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4CE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206240" cy="2377440"/>
          </a:xfrm>
          <a:prstGeom prst="rect">
            <a:avLst/>
          </a:prstGeom>
          <a:solidFill>
            <a:srgbClr val="5C6B7A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Formula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care_gap = distress_pct × (lack_support / 100)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(distress_pct   / avg) ×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(depression_pct / avg) × 35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(loneliness_pct / avg) × 25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Surge = distress &gt; avg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depression &gt; avg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246120"/>
            <a:ext cx="4206240" cy="1463040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/predict/surge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3075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ZIP codes where both mental distress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depression exceed the national average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risk_score. Surge-probable by ZIP.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731520"/>
            <a:ext cx="4160520" cy="4069080"/>
          </a:xfrm>
          <a:prstGeom prst="rect">
            <a:avLst/>
          </a:prstGeom>
          <a:solidFill>
            <a:srgbClr val="3D4F5C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822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Record — ZIP 98118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188720"/>
            <a:ext cx="39502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"zip_code": "98118",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"frequent_mental_distress_pct": 24.8,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"depression_pct": 28.3,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"lack_emotional_support_pct": 31.3,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"loneliness_pct": 48.2,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"care_gap": 7.76,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"risk_score": 114.3,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"risk_tier": "High",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"surge_probable":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"model_version": "mhcews-v2.0.0",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"data_source": "CDC PLACES ZCTA 2024"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QUALITY, SECURITY &amp; TEST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137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9CE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743200" cy="4224528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402336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758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225296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1225296"/>
            <a:ext cx="45720" cy="56692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261872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MH measures per ZIP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server load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883664"/>
            <a:ext cx="2523744" cy="566928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1883664"/>
            <a:ext cx="45720" cy="56692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1920240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range check: all pct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must be 0–100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542032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" y="2542032"/>
            <a:ext cx="45720" cy="56692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2578608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PLACES confidence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 included per field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200400"/>
            <a:ext cx="2523744" cy="566928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3200400"/>
            <a:ext cx="45720" cy="56692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3236976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pii_present boolean flag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quarantines PII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858768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" y="3858768"/>
            <a:ext cx="45720" cy="56692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389534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care_gap non-negative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post-calculation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82112" y="731520"/>
            <a:ext cx="2743200" cy="4224528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731520"/>
            <a:ext cx="2743200" cy="402336"/>
          </a:xfrm>
          <a:prstGeom prst="rect">
            <a:avLst/>
          </a:prstGeom>
          <a:solidFill>
            <a:srgbClr val="8499B0"/>
          </a:solidFill>
          <a:ln/>
        </p:spPr>
      </p:sp>
      <p:sp>
        <p:nvSpPr>
          <p:cNvPr id="25" name="Text 23"/>
          <p:cNvSpPr/>
          <p:nvPr/>
        </p:nvSpPr>
        <p:spPr>
          <a:xfrm>
            <a:off x="3310128" y="758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1225296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1225296"/>
            <a:ext cx="45720" cy="566928"/>
          </a:xfrm>
          <a:prstGeom prst="rect">
            <a:avLst/>
          </a:prstGeom>
          <a:solidFill>
            <a:srgbClr val="8499B0"/>
          </a:solidFill>
          <a:ln/>
        </p:spPr>
      </p:sp>
      <p:sp>
        <p:nvSpPr>
          <p:cNvPr id="28" name="Text 26"/>
          <p:cNvSpPr/>
          <p:nvPr/>
        </p:nvSpPr>
        <p:spPr>
          <a:xfrm>
            <a:off x="3401568" y="1261872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access_tier enum on every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(open / restricted)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1883664"/>
            <a:ext cx="2523744" cy="566928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0" y="1883664"/>
            <a:ext cx="45720" cy="566928"/>
          </a:xfrm>
          <a:prstGeom prst="rect">
            <a:avLst/>
          </a:prstGeom>
          <a:solidFill>
            <a:srgbClr val="8499B0"/>
          </a:solidFill>
          <a:ln/>
        </p:spPr>
      </p:sp>
      <p:sp>
        <p:nvSpPr>
          <p:cNvPr id="31" name="Text 29"/>
          <p:cNvSpPr/>
          <p:nvPr/>
        </p:nvSpPr>
        <p:spPr>
          <a:xfrm>
            <a:off x="3401568" y="1920240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planned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operational feeds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2542032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33" name="Shape 31"/>
          <p:cNvSpPr/>
          <p:nvPr/>
        </p:nvSpPr>
        <p:spPr>
          <a:xfrm>
            <a:off x="3291840" y="2542032"/>
            <a:ext cx="45720" cy="566928"/>
          </a:xfrm>
          <a:prstGeom prst="rect">
            <a:avLst/>
          </a:prstGeom>
          <a:solidFill>
            <a:srgbClr val="8499B0"/>
          </a:solidFill>
          <a:ln/>
        </p:spPr>
      </p:sp>
      <p:sp>
        <p:nvSpPr>
          <p:cNvPr id="34" name="Text 32"/>
          <p:cNvSpPr/>
          <p:nvPr/>
        </p:nvSpPr>
        <p:spPr>
          <a:xfrm>
            <a:off x="3401568" y="2578608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model_version enables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patch rollback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3200400"/>
            <a:ext cx="2523744" cy="566928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6" name="Shape 34"/>
          <p:cNvSpPr/>
          <p:nvPr/>
        </p:nvSpPr>
        <p:spPr>
          <a:xfrm>
            <a:off x="3291840" y="3200400"/>
            <a:ext cx="45720" cy="566928"/>
          </a:xfrm>
          <a:prstGeom prst="rect">
            <a:avLst/>
          </a:prstGeom>
          <a:solidFill>
            <a:srgbClr val="8499B0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3236976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data_freshness timestamps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source for audit trail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3858768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39" name="Shape 37"/>
          <p:cNvSpPr/>
          <p:nvPr/>
        </p:nvSpPr>
        <p:spPr>
          <a:xfrm>
            <a:off x="3291840" y="3858768"/>
            <a:ext cx="45720" cy="566928"/>
          </a:xfrm>
          <a:prstGeom prst="rect">
            <a:avLst/>
          </a:prstGeom>
          <a:solidFill>
            <a:srgbClr val="8499B0"/>
          </a:solidFill>
          <a:ln/>
        </p:spPr>
      </p:sp>
      <p:sp>
        <p:nvSpPr>
          <p:cNvPr id="40" name="Text 38"/>
          <p:cNvSpPr/>
          <p:nvPr/>
        </p:nvSpPr>
        <p:spPr>
          <a:xfrm>
            <a:off x="3401568" y="389534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individual-level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or stored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9904" y="731520"/>
            <a:ext cx="2743200" cy="4224528"/>
          </a:xfrm>
          <a:prstGeom prst="rect">
            <a:avLst/>
          </a:prstGeom>
          <a:solidFill>
            <a:srgbClr val="EDEAE5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9904" y="731520"/>
            <a:ext cx="2743200" cy="402336"/>
          </a:xfrm>
          <a:prstGeom prst="rect">
            <a:avLst/>
          </a:prstGeom>
          <a:solidFill>
            <a:srgbClr val="A89BA8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758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DF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9632" y="1225296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45" name="Shape 43"/>
          <p:cNvSpPr/>
          <p:nvPr/>
        </p:nvSpPr>
        <p:spPr>
          <a:xfrm>
            <a:off x="6199632" y="1225296"/>
            <a:ext cx="45720" cy="566928"/>
          </a:xfrm>
          <a:prstGeom prst="rect">
            <a:avLst/>
          </a:prstGeom>
          <a:solidFill>
            <a:srgbClr val="A89BA8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1261872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functional test cases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endpoints + error handling)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99632" y="1883664"/>
            <a:ext cx="2523744" cy="566928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9632" y="1883664"/>
            <a:ext cx="45720" cy="566928"/>
          </a:xfrm>
          <a:prstGeom prst="rect">
            <a:avLst/>
          </a:prstGeom>
          <a:solidFill>
            <a:srgbClr val="A89BA8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1920240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 quality checks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server startup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99632" y="2542032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51" name="Shape 49"/>
          <p:cNvSpPr/>
          <p:nvPr/>
        </p:nvSpPr>
        <p:spPr>
          <a:xfrm>
            <a:off x="6199632" y="2542032"/>
            <a:ext cx="45720" cy="566928"/>
          </a:xfrm>
          <a:prstGeom prst="rect">
            <a:avLst/>
          </a:prstGeom>
          <a:solidFill>
            <a:srgbClr val="A89BA8"/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2578608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monitoring alarms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(UptimeRobot + Flask logs)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99632" y="3200400"/>
            <a:ext cx="2523744" cy="566928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4" name="Shape 52"/>
          <p:cNvSpPr/>
          <p:nvPr/>
        </p:nvSpPr>
        <p:spPr>
          <a:xfrm>
            <a:off x="6199632" y="3200400"/>
            <a:ext cx="45720" cy="566928"/>
          </a:xfrm>
          <a:prstGeom prst="rect">
            <a:avLst/>
          </a:prstGeom>
          <a:solidFill>
            <a:srgbClr val="A89BA8"/>
          </a:solidFill>
          <a:ln/>
        </p:spPr>
      </p:sp>
      <p:sp>
        <p:nvSpPr>
          <p:cNvPr id="55" name="Text 53"/>
          <p:cNvSpPr/>
          <p:nvPr/>
        </p:nvSpPr>
        <p:spPr>
          <a:xfrm>
            <a:off x="6309360" y="3236976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500ms p95 all endpoints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99632" y="3858768"/>
            <a:ext cx="2523744" cy="566928"/>
          </a:xfrm>
          <a:prstGeom prst="rect">
            <a:avLst/>
          </a:prstGeom>
          <a:solidFill>
            <a:srgbClr val="FDFCFA"/>
          </a:solidFill>
          <a:ln/>
        </p:spPr>
      </p:sp>
      <p:sp>
        <p:nvSpPr>
          <p:cNvPr id="57" name="Shape 55"/>
          <p:cNvSpPr/>
          <p:nvPr/>
        </p:nvSpPr>
        <p:spPr>
          <a:xfrm>
            <a:off x="6199632" y="3858768"/>
            <a:ext cx="45720" cy="566928"/>
          </a:xfrm>
          <a:prstGeom prst="rect">
            <a:avLst/>
          </a:prstGeom>
          <a:solidFill>
            <a:srgbClr val="A89BA8"/>
          </a:solidFill>
          <a:ln/>
        </p:spPr>
      </p:sp>
      <p:sp>
        <p:nvSpPr>
          <p:cNvPr id="58" name="Text 56"/>
          <p:cNvSpPr/>
          <p:nvPr/>
        </p:nvSpPr>
        <p:spPr>
          <a:xfrm>
            <a:off x="6309360" y="389534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CDC data refresh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documented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474720" cy="3474720"/>
          </a:xfrm>
          <a:prstGeom prst="ellipse">
            <a:avLst/>
          </a:prstGeom>
          <a:solidFill>
            <a:srgbClr val="DDD0B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182880"/>
            <a:ext cx="2011680" cy="2011680"/>
          </a:xfrm>
          <a:prstGeom prst="ellipse">
            <a:avLst/>
          </a:prstGeom>
          <a:solidFill>
            <a:srgbClr val="B0C0D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8412480" cy="1115568"/>
          </a:xfrm>
          <a:prstGeom prst="rect">
            <a:avLst/>
          </a:prstGeom>
          <a:solidFill>
            <a:srgbClr val="FDFCFA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9264"/>
            <a:ext cx="658368" cy="1115568"/>
          </a:xfrm>
          <a:prstGeom prst="rect">
            <a:avLst/>
          </a:prstGeom>
          <a:solidFill>
            <a:srgbClr val="7D9B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5568" y="10424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existed. The structure did not.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38988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PLACES publishes rich ZIP-code-level mental health data annually. MHCEWS did not create new data — it restructured existing federal data to make it portable, typed, and predictive.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1115568"/>
          </a:xfrm>
          <a:prstGeom prst="rect">
            <a:avLst/>
          </a:prstGeom>
          <a:solidFill>
            <a:srgbClr val="FDFCFA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31136"/>
            <a:ext cx="658368" cy="1115568"/>
          </a:xfrm>
          <a:prstGeom prst="rect">
            <a:avLst/>
          </a:prstGeom>
          <a:solidFill>
            <a:srgbClr val="8499B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688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5568" y="23042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enabled a new capability.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651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/predict/surge endpoint — returning surge-probable ZIP codes — is only possible because four CDC PLACES measures were restructured from a flat, measure-per-row format into a typed, queryable ZIP-level schema with computed fields.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8412480" cy="1115568"/>
          </a:xfrm>
          <a:prstGeom prst="rect">
            <a:avLst/>
          </a:prstGeom>
          <a:solidFill>
            <a:srgbClr val="FDFCFA"/>
          </a:solidFill>
          <a:ln/>
          <a:effectLst>
            <a:outerShdw sx="100000" sy="100000" kx="0" ky="0" algn="bl" rotWithShape="0" blurRad="76200" dist="25400" dir="8100000">
              <a:srgbClr val="8C909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93008"/>
            <a:ext cx="658368" cy="1115568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3075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5568" y="356616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principles were the architecture, not an afterthought.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91363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ZCTA ZIP codes, ISO 8601 dates, provenance blocks, model_version, and CC BY 4.0 licensing were baked into every record from the start — making the same record usable by a dashboard, a CSV digest, and an API consumer without conversion.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097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github.com/sjgflaied/IMT542-Final-Project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480974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090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2026-05-31T21:19:18Z</dcterms:created>
  <dcterms:modified xsi:type="dcterms:W3CDTF">2026-05-31T21:19:18Z</dcterms:modified>
</cp:coreProperties>
</file>